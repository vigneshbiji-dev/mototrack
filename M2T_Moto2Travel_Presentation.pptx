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 /><Relationship Id="rId36" Type="http://schemas.openxmlformats.org/officeDocument/2006/relationships/tableStyles" Target="tableStyles.xml" /><Relationship Id="rId3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50944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570259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99119996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4300307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1366807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329624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1557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063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5456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8547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71963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50264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6065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72795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9979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442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542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3382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07AE0-7232-7BC7-D0C2-6E698FF2F45F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607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5363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08651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DF289D-6C4E-A92A-7FBD-D0F3DDB89D88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8319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276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0165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354C15-308E-5114-6A0D-7822BA5BED85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3077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375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1968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5A29CD-1F45-F70A-6C93-8492C291DB9F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129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5243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8425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8602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90512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27403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3716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0505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8668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2551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1446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3218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5533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4978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3128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69673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93274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6132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C823D-D302-CB6F-72C5-45CB90F02091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4693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4968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3835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559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820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362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092E49-6653-0568-D32B-D74018FC42E8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759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5646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1300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717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83606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47827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228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2895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28839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93ED1D-D6B0-C223-CEAC-C68E42773D8B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0502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8449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4130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7370A2-207B-87DE-7C15-03F25A79F3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381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9282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5363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2820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2414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1665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EC141F-8937-7D8D-9CF4-6640542B0D59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11206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641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944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30AEC7-9935-2B61-E710-5BFEB911E5E2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5798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021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5924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D27197-4C5E-6E7A-DA3D-0F055ECF25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388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00434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2143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578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675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620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0D4F6F-53F2-8C5C-5F71-891D4DFFAD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793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78987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761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1C32B9-C51A-EF96-0ACE-66651622C4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221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2964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25890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15F1CB-DA32-5C00-CDFC-8E4E6AC9FA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3927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118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039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1CAD31-AB58-893D-8F6D-A2B235FF2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549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9787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122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189364-7B58-914E-4109-89E7CEE8C4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80026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5365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00083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DF9247-8D76-875C-0900-95D4BF40BF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832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3259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19433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87171B-F8D7-A150-E975-FF02EAEA3F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729520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4899520" name="Text 2"/>
          <p:cNvSpPr txBox="1"/>
          <p:nvPr/>
        </p:nvSpPr>
        <p:spPr bwMode="auto"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4800" b="1">
                <a:solidFill>
                  <a:srgbClr val="1F2937"/>
                </a:solidFill>
                <a:latin typeface="Ubuntu Sans"/>
                <a:ea typeface="Ubuntu Sans"/>
                <a:cs typeface="Ubuntu Sans"/>
              </a:rPr>
              <a:t>M</a:t>
            </a:r>
            <a:r>
              <a:rPr lang="en-US" sz="4800" b="1">
                <a:solidFill>
                  <a:srgbClr val="509162"/>
                </a:solidFill>
                <a:latin typeface="Ubuntu Sans"/>
                <a:ea typeface="Ubuntu Sans"/>
                <a:cs typeface="Ubuntu Sans"/>
              </a:rPr>
              <a:t>2</a:t>
            </a:r>
            <a:r>
              <a:rPr lang="en-US" sz="4800" b="1">
                <a:solidFill>
                  <a:srgbClr val="1F2937"/>
                </a:solidFill>
                <a:latin typeface="Ubuntu Sans"/>
                <a:ea typeface="Ubuntu Sans"/>
                <a:cs typeface="Ubuntu Sans"/>
              </a:rPr>
              <a:t>T</a:t>
            </a:r>
            <a:endParaRPr sz="4800">
              <a:latin typeface="Ubuntu Sans"/>
              <a:cs typeface="Ubuntu Sans"/>
            </a:endParaRPr>
          </a:p>
        </p:txBody>
      </p:sp>
      <p:sp>
        <p:nvSpPr>
          <p:cNvPr id="65510068" name="Text 3"/>
          <p:cNvSpPr txBox="1"/>
          <p:nvPr/>
        </p:nvSpPr>
        <p:spPr bwMode="auto"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>
                <a:solidFill>
                  <a:srgbClr val="6B7280"/>
                </a:solidFill>
              </a:rPr>
              <a:t>Moto2Travel</a:t>
            </a:r>
            <a:endParaRPr lang="en-US"/>
          </a:p>
          <a:p>
            <a:pPr marL="0" indent="0" algn="l">
              <a:buNone/>
              <a:defRPr/>
            </a:pPr>
            <a:r>
              <a:rPr lang="en-US">
                <a:solidFill>
                  <a:srgbClr val="6B7280"/>
                </a:solidFill>
              </a:rPr>
              <a:t>A Smart Motorcycle </a:t>
            </a:r>
            <a:r>
              <a:rPr lang="en-US">
                <a:solidFill>
                  <a:srgbClr val="509162"/>
                </a:solidFill>
              </a:rPr>
              <a:t>Ownership </a:t>
            </a:r>
            <a:r>
              <a:rPr lang="en-US">
                <a:solidFill>
                  <a:srgbClr val="6B7280"/>
                </a:solidFill>
              </a:rPr>
              <a:t>&amp; </a:t>
            </a:r>
            <a:r>
              <a:rPr lang="en-US">
                <a:solidFill>
                  <a:srgbClr val="509162"/>
                </a:solidFill>
              </a:rPr>
              <a:t>Management </a:t>
            </a:r>
            <a:r>
              <a:rPr lang="en-US">
                <a:solidFill>
                  <a:srgbClr val="6B7280"/>
                </a:solidFill>
              </a:rPr>
              <a:t>Platform</a:t>
            </a:r>
            <a:endParaRPr lang="en-US"/>
          </a:p>
        </p:txBody>
      </p:sp>
      <p:sp>
        <p:nvSpPr>
          <p:cNvPr id="950276643" name="Text 4"/>
          <p:cNvSpPr txBox="1"/>
          <p:nvPr/>
        </p:nvSpPr>
        <p:spPr bwMode="auto">
          <a:xfrm>
            <a:off x="457200" y="4480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6B7280"/>
                </a:solidFill>
              </a:rPr>
              <a:t>Guided By: Mr Vijayasankar</a:t>
            </a:r>
            <a:endParaRPr lang="en-US" sz="1000"/>
          </a:p>
          <a:p>
            <a:pPr marL="0" indent="0" algn="l">
              <a:buNone/>
              <a:defRPr/>
            </a:pPr>
            <a:r>
              <a:rPr lang="en-US" sz="1000">
                <a:solidFill>
                  <a:srgbClr val="6B7280"/>
                </a:solidFill>
              </a:rPr>
              <a:t>Presented By: Vignesh Biji C</a:t>
            </a:r>
            <a:endParaRPr lang="en-US" sz="1000">
              <a:solidFill>
                <a:srgbClr val="6B7280"/>
              </a:solidFill>
            </a:endParaRPr>
          </a:p>
          <a:p>
            <a:pPr marL="0" indent="0" algn="l">
              <a:buNone/>
              <a:defRPr/>
            </a:pPr>
            <a:r>
              <a:rPr lang="en-US" sz="1000">
                <a:solidFill>
                  <a:srgbClr val="6B7280"/>
                </a:solidFill>
              </a:rPr>
              <a:t>Roll no:49</a:t>
            </a:r>
            <a:endParaRPr lang="en-US" sz="1000"/>
          </a:p>
        </p:txBody>
      </p:sp>
      <p:pic>
        <p:nvPicPr>
          <p:cNvPr id="76735065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57200" y="548639"/>
            <a:ext cx="1830665" cy="109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697455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09233720" name="Text 1"/>
          <p:cNvSpPr txBox="1"/>
          <p:nvPr/>
        </p:nvSpPr>
        <p:spPr bwMode="auto"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b="1">
                <a:solidFill>
                  <a:srgbClr val="509162"/>
                </a:solidFill>
              </a:rPr>
              <a:t>INTRODUCTION</a:t>
            </a:r>
            <a:endParaRPr lang="en-US"/>
          </a:p>
        </p:txBody>
      </p:sp>
      <p:sp>
        <p:nvSpPr>
          <p:cNvPr id="847142321" name="Text 2"/>
          <p:cNvSpPr txBox="1"/>
          <p:nvPr/>
        </p:nvSpPr>
        <p:spPr bwMode="auto">
          <a:xfrm>
            <a:off x="914400" y="10972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509162"/>
                </a:solidFill>
                <a:latin typeface="Ubuntu Sans"/>
                <a:ea typeface="Ubuntu Sans"/>
                <a:cs typeface="Ubuntu Sans"/>
              </a:rPr>
              <a:t>Motorcycle </a:t>
            </a: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owners often maintain fuel, service, expense, and vehicle information separately.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1110980706" name="Text 3"/>
          <p:cNvSpPr txBox="1"/>
          <p:nvPr/>
        </p:nvSpPr>
        <p:spPr bwMode="auto">
          <a:xfrm>
            <a:off x="914400" y="1770379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Managing records becomes more difficult when owning multiple motorcycles.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1207891705" name="Text 4"/>
          <p:cNvSpPr txBox="1"/>
          <p:nvPr/>
        </p:nvSpPr>
        <p:spPr bwMode="auto">
          <a:xfrm>
            <a:off x="914400" y="2214879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Important information such as fuel consumption, mileage, and maintenance history may be difficult to track over time.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701309281" name="Text 5"/>
          <p:cNvSpPr txBox="1"/>
          <p:nvPr/>
        </p:nvSpPr>
        <p:spPr bwMode="auto">
          <a:xfrm>
            <a:off x="914400" y="2849879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M2T centralizes motorcycle ownership data and converts it into useful insights through a web-based dashboard.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751069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20068396" name="Text 1"/>
          <p:cNvSpPr txBox="1"/>
          <p:nvPr/>
        </p:nvSpPr>
        <p:spPr bwMode="auto"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b="1">
                <a:solidFill>
                  <a:srgbClr val="1F2937"/>
                </a:solidFill>
              </a:rPr>
              <a:t>PROBLEM </a:t>
            </a:r>
            <a:r>
              <a:rPr lang="en-US" b="1">
                <a:solidFill>
                  <a:srgbClr val="509162"/>
                </a:solidFill>
              </a:rPr>
              <a:t>STATEMENT</a:t>
            </a:r>
            <a:endParaRPr lang="en-US"/>
          </a:p>
        </p:txBody>
      </p:sp>
      <p:sp>
        <p:nvSpPr>
          <p:cNvPr id="745958834" name="Text 2"/>
          <p:cNvSpPr txBox="1"/>
          <p:nvPr/>
        </p:nvSpPr>
        <p:spPr bwMode="auto"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To develop a centralized motorcycle ownership management system that allows users to manage multiple motorcycles and organize fuel, maintenance, expenses, mileage, and ownership data in one platform while providing useful analytical insights.</a:t>
            </a:r>
            <a:endParaRPr sz="1600">
              <a:latin typeface="Ubuntu Sans"/>
              <a:cs typeface="Ubunt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718782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54056196" name="Text 1"/>
          <p:cNvSpPr txBox="1"/>
          <p:nvPr/>
        </p:nvSpPr>
        <p:spPr bwMode="auto"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b="1">
                <a:solidFill>
                  <a:srgbClr val="1F2937"/>
                </a:solidFill>
              </a:rPr>
              <a:t>LITERATURE </a:t>
            </a:r>
            <a:r>
              <a:rPr lang="en-US" b="1">
                <a:solidFill>
                  <a:srgbClr val="509162"/>
                </a:solidFill>
              </a:rPr>
              <a:t>REVIEW </a:t>
            </a:r>
            <a:endParaRPr lang="en-US"/>
          </a:p>
        </p:txBody>
      </p:sp>
      <p:graphicFrame>
        <p:nvGraphicFramePr>
          <p:cNvPr id="202589457" name=""/>
          <p:cNvGraphicFramePr>
            <a:graphicFrameLocks xmlns:a="http://schemas.openxmlformats.org/drawingml/2006/main"/>
          </p:cNvGraphicFramePr>
          <p:nvPr/>
        </p:nvGraphicFramePr>
        <p:xfrm rot="0">
          <a:off x="457199" y="1028700"/>
          <a:ext cx="6095999" cy="538435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681740"/>
                <a:gridCol w="893102"/>
                <a:gridCol w="2470377"/>
                <a:gridCol w="1681740"/>
                <a:gridCol w="1681740"/>
              </a:tblGrid>
              <a:tr h="450000"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Paper name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Year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Methodology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Result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Limitation</a:t>
                      </a:r>
                      <a:endParaRPr/>
                    </a:p>
                  </a:txBody>
                  <a:tcPr/>
                </a:tc>
              </a:tr>
              <a:tr h="2958143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Systematic Literature Review on Predictive Maintenance of Vehicles and Diagnosis of Vehicle's Health Using Machine Learning Techniques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/>
                        <a:t>2022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Reviewed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machine-learning techniques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 used for automobile predictive maintenance and vehicle-health diagnosis. The study examined ML methods, extraction of information from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on-board diagnostic systems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, and challenges faced by predictive models.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The review found that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machine learning provides promising approaches for predictive maintenance and vehicle-health analysis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, including situations where available vehicle data may be limited.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Predictive maintenance faces problems such as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restricted sensor accessibility, limited vehicle data and unavailable design applications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, which can make early breakdown prediction difficult.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136902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25951869" name="Text 1"/>
          <p:cNvSpPr txBox="1"/>
          <p:nvPr/>
        </p:nvSpPr>
        <p:spPr bwMode="auto"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b="1">
                <a:solidFill>
                  <a:srgbClr val="1F2937"/>
                </a:solidFill>
              </a:rPr>
              <a:t>LITERATURE </a:t>
            </a:r>
            <a:r>
              <a:rPr lang="en-US" b="1">
                <a:solidFill>
                  <a:srgbClr val="509162"/>
                </a:solidFill>
              </a:rPr>
              <a:t>REVIEW </a:t>
            </a:r>
            <a:endParaRPr lang="en-US"/>
          </a:p>
        </p:txBody>
      </p:sp>
      <p:graphicFrame>
        <p:nvGraphicFramePr>
          <p:cNvPr id="702380228" name=""/>
          <p:cNvGraphicFramePr>
            <a:graphicFrameLocks xmlns:a="http://schemas.openxmlformats.org/drawingml/2006/main"/>
          </p:cNvGraphicFramePr>
          <p:nvPr/>
        </p:nvGraphicFramePr>
        <p:xfrm rot="0">
          <a:off x="457199" y="1028700"/>
          <a:ext cx="6095999" cy="538435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681740"/>
                <a:gridCol w="893102"/>
                <a:gridCol w="2470377"/>
                <a:gridCol w="1681740"/>
                <a:gridCol w="1681740"/>
              </a:tblGrid>
              <a:tr h="450000">
                <a:tc>
                  <a:txBody>
                    <a:bodyPr/>
                    <a:p>
                      <a:pPr>
                        <a:defRPr/>
                      </a:pPr>
                      <a:r>
                        <a:rPr sz="1600">
                          <a:latin typeface="Ubuntu Sans"/>
                          <a:ea typeface="Ubuntu Sans"/>
                          <a:cs typeface="Ubuntu Sans"/>
                        </a:rPr>
                        <a:t>Paper name</a:t>
                      </a:r>
                      <a:endParaRPr>
                        <a:latin typeface="Ubuntu Sans"/>
                        <a:cs typeface="Ubuntu San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>
                          <a:latin typeface="Ubuntu Sans"/>
                          <a:ea typeface="Ubuntu Sans"/>
                          <a:cs typeface="Ubuntu Sans"/>
                        </a:rPr>
                        <a:t>Year</a:t>
                      </a:r>
                      <a:endParaRPr>
                        <a:latin typeface="Ubuntu Sans"/>
                        <a:cs typeface="Ubuntu San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>
                          <a:latin typeface="Ubuntu Sans"/>
                          <a:ea typeface="Ubuntu Sans"/>
                          <a:cs typeface="Ubuntu Sans"/>
                        </a:rPr>
                        <a:t>Methodology</a:t>
                      </a:r>
                      <a:endParaRPr>
                        <a:latin typeface="Ubuntu Sans"/>
                        <a:cs typeface="Ubuntu San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>
                          <a:latin typeface="Ubuntu Sans"/>
                          <a:ea typeface="Ubuntu Sans"/>
                          <a:cs typeface="Ubuntu Sans"/>
                        </a:rPr>
                        <a:t>Result</a:t>
                      </a:r>
                      <a:endParaRPr>
                        <a:latin typeface="Ubuntu Sans"/>
                        <a:cs typeface="Ubuntu San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>
                          <a:latin typeface="Ubuntu Sans"/>
                          <a:ea typeface="Ubuntu Sans"/>
                          <a:cs typeface="Ubuntu Sans"/>
                        </a:rPr>
                        <a:t>Limitation</a:t>
                      </a:r>
                      <a:endParaRPr>
                        <a:latin typeface="Ubuntu Sans"/>
                        <a:cs typeface="Ubuntu Sans"/>
                      </a:endParaRPr>
                    </a:p>
                  </a:txBody>
                  <a:tcPr/>
                </a:tc>
              </a:tr>
              <a:tr h="2958143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Vehicle Management System: Fuel, Mileage, Cost, and Maintenance Tracker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/>
                        <a:t>2023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Developed a vehicle-management system for tracking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fuel usage, mileage, vehicle cost and maintenance records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. Vehicle-related information is organized within a centralized system so users can monitor operating and maintenance data.</a:t>
                      </a:r>
                      <a:endParaRPr sz="1400" b="0">
                        <a:latin typeface="Ubuntu Sans"/>
                        <a:cs typeface="Ubuntu San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The system demonstrated how fuel, mileage, cost and maintenance information can be brought together for more organized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vehicle record management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.</a:t>
                      </a:r>
                      <a:endParaRPr sz="1400" b="0">
                        <a:latin typeface="Ubuntu Sans"/>
                        <a:cs typeface="Ubuntu San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Focuses on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general vehicle management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. It does not provide the broader motorcycle-focused approach proposed in M2T, such as multi-bike ownership profiles and integrated motorcycle ownership analytics.</a:t>
                      </a:r>
                      <a:endParaRPr sz="1400" b="0">
                        <a:latin typeface="Ubuntu Sans"/>
                        <a:cs typeface="Ubuntu San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022429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14143617" name="Text 1"/>
          <p:cNvSpPr txBox="1"/>
          <p:nvPr/>
        </p:nvSpPr>
        <p:spPr bwMode="auto"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b="1">
                <a:solidFill>
                  <a:srgbClr val="1F2937"/>
                </a:solidFill>
              </a:rPr>
              <a:t>LITERATURE </a:t>
            </a:r>
            <a:r>
              <a:rPr lang="en-US" b="1">
                <a:solidFill>
                  <a:srgbClr val="509162"/>
                </a:solidFill>
              </a:rPr>
              <a:t>REVIEW </a:t>
            </a:r>
            <a:endParaRPr lang="en-US"/>
          </a:p>
        </p:txBody>
      </p:sp>
      <p:graphicFrame>
        <p:nvGraphicFramePr>
          <p:cNvPr id="39532365" name=""/>
          <p:cNvGraphicFramePr>
            <a:graphicFrameLocks xmlns:a="http://schemas.openxmlformats.org/drawingml/2006/main"/>
          </p:cNvGraphicFramePr>
          <p:nvPr/>
        </p:nvGraphicFramePr>
        <p:xfrm rot="0">
          <a:off x="457199" y="1028700"/>
          <a:ext cx="6095999" cy="538435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681740"/>
                <a:gridCol w="893102"/>
                <a:gridCol w="2470377"/>
                <a:gridCol w="1681740"/>
                <a:gridCol w="1681740"/>
              </a:tblGrid>
              <a:tr h="45000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latin typeface="Ubuntu Sans"/>
                          <a:ea typeface="Ubuntu Sans"/>
                          <a:cs typeface="Ubuntu Sans"/>
                        </a:rPr>
                        <a:t>Paper name</a:t>
                      </a:r>
                      <a:endParaRPr sz="1600" b="1">
                        <a:latin typeface="Ubuntu Sans"/>
                        <a:cs typeface="Ubuntu San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>
                          <a:latin typeface="Ubuntu Sans"/>
                          <a:ea typeface="Ubuntu Sans"/>
                          <a:cs typeface="Ubuntu Sans"/>
                        </a:rPr>
                        <a:t>Year</a:t>
                      </a:r>
                      <a:endParaRPr sz="1600">
                        <a:latin typeface="Ubuntu Sans"/>
                        <a:cs typeface="Ubuntu San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>
                          <a:latin typeface="Ubuntu Sans"/>
                          <a:ea typeface="Ubuntu Sans"/>
                          <a:cs typeface="Ubuntu Sans"/>
                        </a:rPr>
                        <a:t>Methodology</a:t>
                      </a:r>
                      <a:endParaRPr sz="1600">
                        <a:latin typeface="Ubuntu Sans"/>
                        <a:cs typeface="Ubuntu San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>
                          <a:latin typeface="Ubuntu Sans"/>
                          <a:ea typeface="Ubuntu Sans"/>
                          <a:cs typeface="Ubuntu Sans"/>
                        </a:rPr>
                        <a:t>Result</a:t>
                      </a:r>
                      <a:endParaRPr sz="1600">
                        <a:latin typeface="Ubuntu Sans"/>
                        <a:cs typeface="Ubuntu San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>
                          <a:latin typeface="Ubuntu Sans"/>
                          <a:ea typeface="Ubuntu Sans"/>
                          <a:cs typeface="Ubuntu Sans"/>
                        </a:rPr>
                        <a:t>Limitation</a:t>
                      </a:r>
                      <a:endParaRPr sz="1600">
                        <a:latin typeface="Ubuntu Sans"/>
                        <a:cs typeface="Ubuntu Sans"/>
                      </a:endParaRPr>
                    </a:p>
                  </a:txBody>
                  <a:tcPr/>
                </a:tc>
              </a:tr>
              <a:tr h="2958143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Impact of Real-World Driving Characteristics on the Actual Fuel Consumption of Motorcycles and Implications for Traffic-Related Air Pollution Control in Vietnam</a:t>
                      </a:r>
                      <a:endParaRPr sz="1200" b="0">
                        <a:latin typeface="Ubuntu Sans"/>
                        <a:cs typeface="Ubuntu San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>
                          <a:latin typeface="Ubuntu Sans"/>
                          <a:ea typeface="Ubuntu Sans"/>
                          <a:cs typeface="Ubuntu Sans"/>
                        </a:rPr>
                        <a:t>2023</a:t>
                      </a:r>
                      <a:endParaRPr sz="1200" b="0">
                        <a:latin typeface="Ubuntu Sans"/>
                        <a:cs typeface="Ubuntu San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A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data logger was installed on motorcycles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 to collect second-by-second speed and fuel-consumption data under real-world conditions. The collected data was processed and driving parameters, particularly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Vehicle Specific Power (VSP)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, were analyzed against fuel consumption.</a:t>
                      </a:r>
                      <a:endParaRPr sz="1200" b="0">
                        <a:latin typeface="Ubuntu Sans"/>
                        <a:cs typeface="Ubuntu San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The study found a strong relationship between riding characteristics and actual motorcycle fuel consumption.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VSP showed a strong relationship with fuel consumption (R² = 0.88)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, and average motorcycle fuel consumption in the studied Hanoi conditions was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3.01 L/100 km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.</a:t>
                      </a:r>
                      <a:endParaRPr sz="1200" b="0">
                        <a:latin typeface="Ubuntu Sans"/>
                        <a:cs typeface="Ubuntu San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The research mainly analyzes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fuel consumption and riding characteristics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 rather than providing a complete motorcycle ownership-management system. The results also relate to the specific real-world operating conditions examined in the study.</a:t>
                      </a:r>
                      <a:endParaRPr sz="1200" b="0">
                        <a:latin typeface="Ubuntu Sans"/>
                        <a:cs typeface="Ubuntu San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546522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2287450" name="Text 1"/>
          <p:cNvSpPr txBox="1"/>
          <p:nvPr/>
        </p:nvSpPr>
        <p:spPr bwMode="auto"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b="1">
                <a:solidFill>
                  <a:srgbClr val="1F2937"/>
                </a:solidFill>
              </a:rPr>
              <a:t>LITERATURE </a:t>
            </a:r>
            <a:r>
              <a:rPr lang="en-US" b="1">
                <a:solidFill>
                  <a:srgbClr val="509162"/>
                </a:solidFill>
              </a:rPr>
              <a:t>REVIEW </a:t>
            </a:r>
            <a:endParaRPr lang="en-US"/>
          </a:p>
        </p:txBody>
      </p:sp>
      <p:graphicFrame>
        <p:nvGraphicFramePr>
          <p:cNvPr id="1159719048" name=""/>
          <p:cNvGraphicFramePr>
            <a:graphicFrameLocks xmlns:a="http://schemas.openxmlformats.org/drawingml/2006/main"/>
          </p:cNvGraphicFramePr>
          <p:nvPr/>
        </p:nvGraphicFramePr>
        <p:xfrm rot="0">
          <a:off x="457200" y="994677"/>
          <a:ext cx="8408700" cy="3408143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681740"/>
                <a:gridCol w="893102"/>
                <a:gridCol w="2470377"/>
                <a:gridCol w="1681740"/>
                <a:gridCol w="1681740"/>
              </a:tblGrid>
              <a:tr h="450000"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Paper name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Year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Methodology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Result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Limitation</a:t>
                      </a:r>
                      <a:endParaRPr/>
                    </a:p>
                  </a:txBody>
                  <a:tcPr/>
                </a:tc>
              </a:tr>
              <a:tr h="2958143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On Construction of Real-Time Monitoring System for Sport Cruiser Motorcycles Using NB-IoT and Multi-Sensors</a:t>
                      </a:r>
                      <a:endParaRPr sz="1200" b="0">
                        <a:latin typeface="Ubuntu Sans"/>
                        <a:cs typeface="Ubuntu San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>
                          <a:latin typeface="Ubuntu Sans"/>
                          <a:ea typeface="Ubuntu Sans"/>
                          <a:cs typeface="Ubuntu Sans"/>
                        </a:rPr>
                        <a:t>2024</a:t>
                      </a:r>
                      <a:endParaRPr sz="1200" b="0">
                        <a:latin typeface="Ubuntu Sans"/>
                        <a:cs typeface="Ubuntu San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Developed an IoT-based motorcycle monitoring system integrating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NB-IoT, MQTT, multiple sensors, database management and data visualization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. Professional mechanics were also involved in defining required motorcycle data and system architecture.</a:t>
                      </a:r>
                      <a:endParaRPr sz="1200" b="0">
                        <a:latin typeface="Ubuntu Sans"/>
                        <a:cs typeface="Ubuntu San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The system enabled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real-time motorcycle monitoring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, including observation of inappropriate riding behaviour and mechanical abnormalities. The study indicates that NB-IoT and multi-sensor integration can improve operational monitoring and riding safety.</a:t>
                      </a:r>
                      <a:endParaRPr sz="1200" b="0">
                        <a:latin typeface="Ubuntu Sans"/>
                        <a:cs typeface="Ubuntu San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The approach depends on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additional sensors, NB-IoT communication and installed hardware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Ubuntu Sans"/>
                          <a:ea typeface="Ubuntu Sans"/>
                          <a:cs typeface="Ubuntu Sans"/>
                        </a:rPr>
                        <a:t>. The authors also identify future work around improving sensor technology and data-processing/transmission efficiency.</a:t>
                      </a:r>
                      <a:endParaRPr sz="1200" b="0">
                        <a:latin typeface="Ubuntu Sans"/>
                        <a:cs typeface="Ubuntu San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2692706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51337943" name="Text 1"/>
          <p:cNvSpPr txBox="1"/>
          <p:nvPr/>
        </p:nvSpPr>
        <p:spPr bwMode="auto"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b="1">
                <a:solidFill>
                  <a:srgbClr val="1F2937"/>
                </a:solidFill>
              </a:rPr>
              <a:t>GAP </a:t>
            </a:r>
            <a:r>
              <a:rPr lang="en-US" b="1">
                <a:solidFill>
                  <a:srgbClr val="509162"/>
                </a:solidFill>
              </a:rPr>
              <a:t>IDENTIFIED</a:t>
            </a:r>
            <a:endParaRPr lang="en-US"/>
          </a:p>
        </p:txBody>
      </p:sp>
      <p:sp>
        <p:nvSpPr>
          <p:cNvPr id="1325480238" name="Text 2"/>
          <p:cNvSpPr txBox="1"/>
          <p:nvPr/>
        </p:nvSpPr>
        <p:spPr bwMode="auto">
          <a:xfrm>
            <a:off x="914400" y="100584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Existing research addresses vehicle management, fuel consumption, and predictive maintenance separately.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371395917" name="Text 3"/>
          <p:cNvSpPr txBox="1"/>
          <p:nvPr/>
        </p:nvSpPr>
        <p:spPr bwMode="auto">
          <a:xfrm>
            <a:off x="914400" y="1600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Vehicle management research demonstrates value of recording fuel, mileage, and maintenance data.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328334301" name="Text 6"/>
          <p:cNvSpPr txBox="1"/>
          <p:nvPr/>
        </p:nvSpPr>
        <p:spPr bwMode="auto">
          <a:xfrm>
            <a:off x="914400" y="2189479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No unified platform combining motorcycle profiles, fuel, maintenance, expenses, and ownership analytics.</a:t>
            </a:r>
            <a:endParaRPr sz="1400">
              <a:latin typeface="Ubuntu Sans"/>
              <a:cs typeface="Ubunt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395143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76675689" name="Text 1"/>
          <p:cNvSpPr txBox="1"/>
          <p:nvPr/>
        </p:nvSpPr>
        <p:spPr bwMode="auto"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b="1">
                <a:solidFill>
                  <a:srgbClr val="1F2937"/>
                </a:solidFill>
              </a:rPr>
              <a:t>PROPOSED </a:t>
            </a:r>
            <a:r>
              <a:rPr lang="en-US" b="1">
                <a:solidFill>
                  <a:srgbClr val="509162"/>
                </a:solidFill>
              </a:rPr>
              <a:t>SOLUTION</a:t>
            </a:r>
            <a:endParaRPr lang="en-US"/>
          </a:p>
        </p:txBody>
      </p:sp>
      <p:sp>
        <p:nvSpPr>
          <p:cNvPr id="1793963166" name="Text 2"/>
          <p:cNvSpPr txBox="1"/>
          <p:nvPr/>
        </p:nvSpPr>
        <p:spPr bwMode="auto"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F2937"/>
                </a:solidFill>
                <a:latin typeface="Ubuntu Sans"/>
                <a:ea typeface="Ubuntu Sans"/>
                <a:cs typeface="Ubuntu Sans"/>
              </a:rPr>
              <a:t>M2T provides a centralized motorcycle ownership platform that:</a:t>
            </a:r>
            <a:endParaRPr lang="en-US" sz="1400"/>
          </a:p>
        </p:txBody>
      </p:sp>
      <p:sp>
        <p:nvSpPr>
          <p:cNvPr id="261989752" name="Text 3"/>
          <p:cNvSpPr txBox="1"/>
          <p:nvPr/>
        </p:nvSpPr>
        <p:spPr bwMode="auto">
          <a:xfrm>
            <a:off x="1097280" y="1463040"/>
            <a:ext cx="75895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Maintains multiple motorcycle profiles under one user account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1235394468" name="Text 4"/>
          <p:cNvSpPr txBox="1"/>
          <p:nvPr/>
        </p:nvSpPr>
        <p:spPr bwMode="auto">
          <a:xfrm>
            <a:off x="1097280" y="1920240"/>
            <a:ext cx="75895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Records fuel transactions and calculates mileage automatically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1146340740" name="Text 5"/>
          <p:cNvSpPr txBox="1"/>
          <p:nvPr/>
        </p:nvSpPr>
        <p:spPr bwMode="auto">
          <a:xfrm>
            <a:off x="1097280" y="2377440"/>
            <a:ext cx="75895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Tracks service and maintenance history comprehensively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872151451" name="Text 6"/>
          <p:cNvSpPr txBox="1"/>
          <p:nvPr/>
        </p:nvSpPr>
        <p:spPr bwMode="auto">
          <a:xfrm>
            <a:off x="1097280" y="2834640"/>
            <a:ext cx="75895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Records motorcycle-related expenses with categorization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899835838" name="Text 7"/>
          <p:cNvSpPr txBox="1"/>
          <p:nvPr/>
        </p:nvSpPr>
        <p:spPr bwMode="auto">
          <a:xfrm>
            <a:off x="1097280" y="3291840"/>
            <a:ext cx="75895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Organizes records separately for each motorcycle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529626975" name="Text 8"/>
          <p:cNvSpPr txBox="1"/>
          <p:nvPr/>
        </p:nvSpPr>
        <p:spPr bwMode="auto">
          <a:xfrm>
            <a:off x="1097280" y="3749040"/>
            <a:ext cx="75895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Calculates ownership-related metrics and analytics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1074315659" name="Text 9"/>
          <p:cNvSpPr txBox="1"/>
          <p:nvPr/>
        </p:nvSpPr>
        <p:spPr bwMode="auto">
          <a:xfrm>
            <a:off x="1097280" y="4206240"/>
            <a:ext cx="75895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Provides dashboard-based insights and visualizations</a:t>
            </a:r>
            <a:endParaRPr sz="1400">
              <a:latin typeface="Ubuntu Sans"/>
              <a:cs typeface="Ubunt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730088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70217022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570034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6308416" name="Text 1"/>
          <p:cNvSpPr txBox="1"/>
          <p:nvPr/>
        </p:nvSpPr>
        <p:spPr bwMode="auto"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b="1">
                <a:solidFill>
                  <a:srgbClr val="1F2937"/>
                </a:solidFill>
              </a:rPr>
              <a:t>ARCHITECTURE </a:t>
            </a:r>
            <a:r>
              <a:rPr lang="en-US" b="1">
                <a:solidFill>
                  <a:srgbClr val="509162"/>
                </a:solidFill>
              </a:rPr>
              <a:t>OVERVIEW</a:t>
            </a:r>
            <a:endParaRPr lang="en-US"/>
          </a:p>
        </p:txBody>
      </p:sp>
      <p:sp>
        <p:nvSpPr>
          <p:cNvPr id="1971349475" name="Text 2"/>
          <p:cNvSpPr txBox="1"/>
          <p:nvPr/>
        </p:nvSpPr>
        <p:spPr bwMode="auto">
          <a:xfrm>
            <a:off x="914400" y="10972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M2T follows a web-based client-server architecture.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2014694984" name="Text 3"/>
          <p:cNvSpPr txBox="1"/>
          <p:nvPr/>
        </p:nvSpPr>
        <p:spPr bwMode="auto">
          <a:xfrm>
            <a:off x="914400" y="15544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React.js with Vite provides responsive frontend interface.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864593322" name="Text 4"/>
          <p:cNvSpPr txBox="1"/>
          <p:nvPr/>
        </p:nvSpPr>
        <p:spPr bwMode="auto">
          <a:xfrm>
            <a:off x="914400" y="20116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Node.js and Express.js handle backend API and business logic.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655368994" name="Text 5"/>
          <p:cNvSpPr txBox="1"/>
          <p:nvPr/>
        </p:nvSpPr>
        <p:spPr bwMode="auto">
          <a:xfrm>
            <a:off x="91440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MongoDB Atlas serves as NoSQL database for all application data.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1185028083" name="Text 6"/>
          <p:cNvSpPr txBox="1"/>
          <p:nvPr/>
        </p:nvSpPr>
        <p:spPr bwMode="auto">
          <a:xfrm>
            <a:off x="914400" y="2926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JWT provides token-based authentication for secure access.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1671921991" name="Text 7"/>
          <p:cNvSpPr txBox="1"/>
          <p:nvPr/>
        </p:nvSpPr>
        <p:spPr bwMode="auto">
          <a:xfrm>
            <a:off x="914400" y="33832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Mongoose acts as data modeling layer between application and database.</a:t>
            </a:r>
            <a:endParaRPr sz="1400">
              <a:latin typeface="Ubuntu Sans"/>
              <a:cs typeface="Ubunt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292314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70690163" name="Text 1"/>
          <p:cNvSpPr txBox="1"/>
          <p:nvPr/>
        </p:nvSpPr>
        <p:spPr bwMode="auto"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b="1">
                <a:solidFill>
                  <a:srgbClr val="1F2937"/>
                </a:solidFill>
              </a:rPr>
              <a:t>MODULE </a:t>
            </a:r>
            <a:r>
              <a:rPr lang="en-US" b="1">
                <a:solidFill>
                  <a:srgbClr val="509162"/>
                </a:solidFill>
              </a:rPr>
              <a:t>DESCRIPTION</a:t>
            </a:r>
            <a:endParaRPr lang="en-US"/>
          </a:p>
        </p:txBody>
      </p:sp>
      <p:sp>
        <p:nvSpPr>
          <p:cNvPr id="862427544" name=""/>
          <p:cNvSpPr/>
          <p:nvPr/>
        </p:nvSpPr>
        <p:spPr bwMode="auto">
          <a:xfrm>
            <a:off x="457200" y="902969"/>
            <a:ext cx="6063239" cy="3667104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lnSpc>
                <a:spcPct val="114999"/>
              </a:lnSpc>
              <a:defRPr/>
            </a:pPr>
            <a:r>
              <a:rPr sz="12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1. </a:t>
            </a:r>
            <a:r>
              <a:rPr sz="12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Frontend </a:t>
            </a:r>
            <a:r>
              <a:rPr sz="1200" b="1" i="0" u="none">
                <a:solidFill>
                  <a:srgbClr val="509162"/>
                </a:solidFill>
                <a:latin typeface="Ubuntu Sans"/>
                <a:ea typeface="Ubuntu Sans"/>
                <a:cs typeface="Ubuntu Sans"/>
              </a:rPr>
              <a:t>UI</a:t>
            </a:r>
            <a:endParaRPr sz="1200">
              <a:latin typeface="Ubuntu Sans"/>
              <a:cs typeface="Ubuntu Sans"/>
            </a:endParaRP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Provides a simple and responsive interface for the motorcycle owner.</a:t>
            </a:r>
            <a:endParaRPr sz="1200">
              <a:latin typeface="Ubuntu Sans"/>
              <a:cs typeface="Ubuntu Sans"/>
            </a:endParaRP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Displays motorcycles, fuel records, maintenance, expenses, and dashboard analytics.</a:t>
            </a:r>
            <a:endParaRPr sz="1200" b="0" i="0" u="none">
              <a:solidFill>
                <a:srgbClr val="000000"/>
              </a:solidFill>
              <a:latin typeface="Ubuntu Sans"/>
              <a:ea typeface="Ubuntu Sans"/>
              <a:cs typeface="Ubuntu Sans"/>
            </a:endParaRP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endParaRPr sz="12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2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2. </a:t>
            </a:r>
            <a:r>
              <a:rPr sz="12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Authentication </a:t>
            </a:r>
            <a:r>
              <a:rPr sz="1200" b="1" i="0" u="none">
                <a:solidFill>
                  <a:srgbClr val="509162"/>
                </a:solidFill>
                <a:latin typeface="Ubuntu Sans"/>
                <a:ea typeface="Ubuntu Sans"/>
                <a:cs typeface="Ubuntu Sans"/>
              </a:rPr>
              <a:t>Module</a:t>
            </a:r>
            <a:endParaRPr sz="1200">
              <a:latin typeface="Ubuntu Sans"/>
              <a:cs typeface="Ubuntu Sans"/>
            </a:endParaRP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Manages user registration and login.</a:t>
            </a:r>
            <a:endParaRPr sz="1200">
              <a:latin typeface="Ubuntu Sans"/>
              <a:cs typeface="Ubuntu Sans"/>
            </a:endParaRP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Uses JWT authentication and bcrypt password hashing to secure user access.</a:t>
            </a:r>
            <a:endParaRPr sz="1200" b="0" i="0" u="none">
              <a:solidFill>
                <a:srgbClr val="000000"/>
              </a:solidFill>
              <a:latin typeface="Ubuntu Sans"/>
              <a:ea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endParaRPr sz="12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2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3. </a:t>
            </a:r>
            <a:r>
              <a:rPr sz="12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Motorcycle Management </a:t>
            </a:r>
            <a:r>
              <a:rPr sz="1200" b="1" i="0" u="none">
                <a:solidFill>
                  <a:srgbClr val="509162"/>
                </a:solidFill>
                <a:latin typeface="Ubuntu Sans"/>
                <a:ea typeface="Ubuntu Sans"/>
                <a:cs typeface="Ubuntu Sans"/>
              </a:rPr>
              <a:t>Module</a:t>
            </a:r>
            <a:endParaRPr sz="1200">
              <a:latin typeface="Ubuntu Sans"/>
              <a:cs typeface="Ubuntu Sans"/>
            </a:endParaRP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Adds, updates, views, and manages multiple motorcycles under one account.</a:t>
            </a:r>
            <a:endParaRPr sz="1200">
              <a:latin typeface="Ubuntu Sans"/>
              <a:cs typeface="Ubuntu Sans"/>
            </a:endParaRP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Stores motorcycle details such as brand, model, year, registration number, engine capacity, and odometer.</a:t>
            </a:r>
            <a:endParaRPr sz="1200">
              <a:latin typeface="Ubuntu Sans"/>
              <a:ea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endParaRPr sz="12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2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4. </a:t>
            </a:r>
            <a:r>
              <a:rPr sz="12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Fuel Management </a:t>
            </a:r>
            <a:r>
              <a:rPr sz="1200" b="1" i="0" u="none">
                <a:solidFill>
                  <a:srgbClr val="509162"/>
                </a:solidFill>
                <a:latin typeface="Ubuntu Sans"/>
                <a:ea typeface="Ubuntu Sans"/>
                <a:cs typeface="Ubuntu Sans"/>
              </a:rPr>
              <a:t>Module</a:t>
            </a:r>
            <a:endParaRPr sz="1200">
              <a:latin typeface="Ubuntu Sans"/>
              <a:cs typeface="Ubuntu Sans"/>
            </a:endParaRP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Records fuel quantity, price, odometer, fuel station, and payment details.</a:t>
            </a:r>
            <a:endParaRPr sz="1200">
              <a:latin typeface="Ubuntu Sans"/>
              <a:cs typeface="Ubuntu Sans"/>
            </a:endParaRP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Calculates fuel cost, mileage, distance travelled, and cost per kilometre.</a:t>
            </a:r>
            <a:endParaRPr sz="1200">
              <a:latin typeface="Ubuntu Sans"/>
              <a:cs typeface="Ubunt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052856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82390939" name="Text 1"/>
          <p:cNvSpPr txBox="1"/>
          <p:nvPr/>
        </p:nvSpPr>
        <p:spPr bwMode="auto"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b="1">
                <a:solidFill>
                  <a:srgbClr val="1F2937"/>
                </a:solidFill>
              </a:rPr>
              <a:t>MODULE </a:t>
            </a:r>
            <a:r>
              <a:rPr lang="en-US" b="1">
                <a:solidFill>
                  <a:srgbClr val="509162"/>
                </a:solidFill>
              </a:rPr>
              <a:t>DESCRIPTION</a:t>
            </a:r>
            <a:endParaRPr lang="en-US"/>
          </a:p>
        </p:txBody>
      </p:sp>
      <p:sp>
        <p:nvSpPr>
          <p:cNvPr id="156093421" name=""/>
          <p:cNvSpPr/>
          <p:nvPr/>
        </p:nvSpPr>
        <p:spPr bwMode="auto">
          <a:xfrm>
            <a:off x="457200" y="902969"/>
            <a:ext cx="6068279" cy="3667104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lnSpc>
                <a:spcPct val="114999"/>
              </a:lnSpc>
              <a:defRPr/>
            </a:pPr>
            <a:r>
              <a:rPr sz="12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5. </a:t>
            </a:r>
            <a:r>
              <a:rPr sz="12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Service &amp; Maintenance </a:t>
            </a:r>
            <a:r>
              <a:rPr sz="1200" b="1" i="0" u="none">
                <a:solidFill>
                  <a:srgbClr val="509162"/>
                </a:solidFill>
                <a:latin typeface="Ubuntu Sans"/>
                <a:ea typeface="Ubuntu Sans"/>
                <a:cs typeface="Ubuntu Sans"/>
              </a:rPr>
              <a:t>Module</a:t>
            </a:r>
            <a:endParaRPr sz="1200">
              <a:latin typeface="Ubuntu Sans"/>
              <a:cs typeface="Ubuntu Sans"/>
            </a:endParaRP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Records periodic services, repairs, oil changes, and other maintenance activities.</a:t>
            </a:r>
            <a:endParaRPr sz="1200">
              <a:latin typeface="Ubuntu Sans"/>
              <a:cs typeface="Ubuntu Sans"/>
            </a:endParaRP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Tracks service dates, odometer readings, parts cost, labour cost, and total maintenance cost.</a:t>
            </a:r>
            <a:endParaRPr sz="1200">
              <a:latin typeface="Ubuntu Sans"/>
              <a:ea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endParaRPr sz="12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2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6. </a:t>
            </a:r>
            <a:r>
              <a:rPr sz="12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Expense Management </a:t>
            </a:r>
            <a:r>
              <a:rPr sz="1200" b="1" i="0" u="none">
                <a:solidFill>
                  <a:srgbClr val="509162"/>
                </a:solidFill>
                <a:latin typeface="Ubuntu Sans"/>
                <a:ea typeface="Ubuntu Sans"/>
                <a:cs typeface="Ubuntu Sans"/>
              </a:rPr>
              <a:t>Module</a:t>
            </a:r>
            <a:endParaRPr sz="1200">
              <a:latin typeface="Ubuntu Sans"/>
              <a:cs typeface="Ubuntu Sans"/>
            </a:endParaRP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Records motorcycle-related expenses such as accessories, parts, repairs, insurance, and modifications.</a:t>
            </a:r>
            <a:endParaRPr sz="1200">
              <a:latin typeface="Ubuntu Sans"/>
              <a:cs typeface="Ubuntu Sans"/>
            </a:endParaRP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Categorizes expenses and tracks overall ownership spending.</a:t>
            </a:r>
            <a:endParaRPr sz="1200">
              <a:latin typeface="Ubuntu Sans"/>
              <a:ea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endParaRPr sz="12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2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7. </a:t>
            </a:r>
            <a:r>
              <a:rPr sz="12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Database </a:t>
            </a:r>
            <a:r>
              <a:rPr sz="1200" b="1" i="0" u="none">
                <a:solidFill>
                  <a:srgbClr val="509162"/>
                </a:solidFill>
                <a:latin typeface="Ubuntu Sans"/>
                <a:ea typeface="Ubuntu Sans"/>
                <a:cs typeface="Ubuntu Sans"/>
              </a:rPr>
              <a:t>Module</a:t>
            </a:r>
            <a:endParaRPr sz="1200">
              <a:latin typeface="Ubuntu Sans"/>
              <a:cs typeface="Ubuntu Sans"/>
            </a:endParaRP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Uses </a:t>
            </a:r>
            <a:r>
              <a:rPr sz="12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MongoDB Atlas</a:t>
            </a:r>
            <a:r>
              <a:rPr sz="12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to store user, motorcycle, fuel, service, and expense data. </a:t>
            </a:r>
            <a:endParaRPr sz="1200">
              <a:latin typeface="Ubuntu Sans"/>
              <a:cs typeface="Ubuntu Sans"/>
            </a:endParaRP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Uses </a:t>
            </a:r>
            <a:r>
              <a:rPr sz="12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Mongoose ODM</a:t>
            </a:r>
            <a:r>
              <a:rPr sz="12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to manage database schemas and relationships. </a:t>
            </a:r>
            <a:endParaRPr sz="1200" b="0" i="0" u="none">
              <a:solidFill>
                <a:srgbClr val="000000"/>
              </a:solidFill>
              <a:latin typeface="Ubuntu Sans"/>
              <a:ea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endParaRPr sz="12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2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8. </a:t>
            </a:r>
            <a:r>
              <a:rPr sz="12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Reports &amp; Analytics </a:t>
            </a:r>
            <a:r>
              <a:rPr sz="1200" b="1" i="0" u="none">
                <a:solidFill>
                  <a:srgbClr val="509162"/>
                </a:solidFill>
                <a:latin typeface="Ubuntu Sans"/>
                <a:ea typeface="Ubuntu Sans"/>
                <a:cs typeface="Ubuntu Sans"/>
              </a:rPr>
              <a:t>Module</a:t>
            </a:r>
            <a:endParaRPr sz="1200">
              <a:latin typeface="Ubuntu Sans"/>
              <a:cs typeface="Ubuntu Sans"/>
            </a:endParaRP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Analyzes fuel, mileage, maintenance, and expense records.</a:t>
            </a:r>
            <a:endParaRPr sz="1200">
              <a:latin typeface="Ubuntu Sans"/>
              <a:cs typeface="Ubuntu Sans"/>
            </a:endParaRP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2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Displays ownership insights, trends, and key metrics through the dashboard.</a:t>
            </a:r>
            <a:endParaRPr sz="1200">
              <a:latin typeface="Ubuntu Sans"/>
              <a:cs typeface="Ubunt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141497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78927245" name="Text 1"/>
          <p:cNvSpPr txBox="1"/>
          <p:nvPr/>
        </p:nvSpPr>
        <p:spPr bwMode="auto"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b="1">
                <a:solidFill>
                  <a:srgbClr val="1F2937"/>
                </a:solidFill>
              </a:rPr>
              <a:t>SOFTWARE </a:t>
            </a:r>
            <a:r>
              <a:rPr lang="en-US" b="1">
                <a:solidFill>
                  <a:srgbClr val="509162"/>
                </a:solidFill>
              </a:rPr>
              <a:t>REQUIREMENTS</a:t>
            </a:r>
            <a:r>
              <a:rPr lang="en-US">
                <a:solidFill>
                  <a:srgbClr val="509162"/>
                </a:solidFill>
              </a:rPr>
              <a:t> </a:t>
            </a:r>
            <a:r>
              <a:rPr lang="en-US" b="1"/>
              <a:t>S</a:t>
            </a:r>
            <a:r>
              <a:rPr lang="en-US" b="1"/>
              <a:t>PECIFICATION</a:t>
            </a:r>
            <a:endParaRPr lang="en-US"/>
          </a:p>
        </p:txBody>
      </p:sp>
      <p:sp>
        <p:nvSpPr>
          <p:cNvPr id="1647943843" name=""/>
          <p:cNvSpPr/>
          <p:nvPr/>
        </p:nvSpPr>
        <p:spPr bwMode="auto">
          <a:xfrm flipH="0" flipV="0">
            <a:off x="457200" y="914400"/>
            <a:ext cx="8236798" cy="62258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lnSpc>
                <a:spcPct val="114999"/>
              </a:lnSpc>
              <a:defRPr/>
            </a:pPr>
            <a:r>
              <a:rPr sz="1400" b="1" i="0" u="none">
                <a:solidFill>
                  <a:srgbClr val="509162"/>
                </a:solidFill>
                <a:latin typeface="Ubuntu Sans"/>
                <a:ea typeface="Ubuntu Sans"/>
                <a:cs typeface="Ubuntu Sans"/>
              </a:rPr>
              <a:t>Purpose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The purpose of M2T (Moto2Travel) is to provide a centralized web-based platform for motorcycle owners to manage and monitor their motorcycle ownership activities.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The system shall allow users to maintain information about multiple motorcycles and record related </a:t>
            </a: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fuel consumption, mileage, maintenance, service activities and expenses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in a structured manner.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The system shall process the collected data and present useful ownership information through dashboards, reports and analytics.</a:t>
            </a:r>
            <a:endParaRPr sz="1400">
              <a:latin typeface="Ubuntu Sans"/>
              <a:ea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1" i="0" u="none">
                <a:solidFill>
                  <a:srgbClr val="509162"/>
                </a:solidFill>
                <a:latin typeface="Ubuntu Sans"/>
                <a:ea typeface="Ubuntu Sans"/>
                <a:cs typeface="Ubuntu Sans"/>
              </a:rPr>
              <a:t>Scope </a:t>
            </a: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of the System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M2T shall provide the following major capabilities: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User registration and authentication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User profile management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Multiple motorcycle management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Motorcycle information management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Fuel record management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Automatic mileage calculation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Fuel expenditure tracking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Service and maintenance history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Motorcycle-related expense tracking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Dashboard and statistical analysis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Search and filtering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Basic reminders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Secure storage of ownership data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The architecture should also allow future extensions such as predictive maintenance, advanced analytics, email notifications and intelligent recommendations.</a:t>
            </a:r>
            <a:endParaRPr sz="1400">
              <a:latin typeface="Ubuntu Sans"/>
              <a:cs typeface="Ubunt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461770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 anchor="ctr"/>
          <a:p>
            <a:pPr algn="ctr">
              <a:defRPr/>
            </a:pPr>
            <a:endParaRPr>
              <a:latin typeface="Ubuntu Sans"/>
              <a:cs typeface="Ubuntu Sans"/>
            </a:endParaRPr>
          </a:p>
        </p:txBody>
      </p:sp>
      <p:sp>
        <p:nvSpPr>
          <p:cNvPr id="1963642503" name="Text 1"/>
          <p:cNvSpPr txBox="1"/>
          <p:nvPr/>
        </p:nvSpPr>
        <p:spPr bwMode="auto"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b="1">
                <a:solidFill>
                  <a:srgbClr val="1F2937"/>
                </a:solidFill>
              </a:rPr>
              <a:t>SOFTWARE </a:t>
            </a:r>
            <a:r>
              <a:rPr lang="en-US" b="1">
                <a:solidFill>
                  <a:srgbClr val="509162"/>
                </a:solidFill>
              </a:rPr>
              <a:t>REQUIREMENTS</a:t>
            </a:r>
            <a:r>
              <a:rPr lang="en-US">
                <a:solidFill>
                  <a:srgbClr val="509162"/>
                </a:solidFill>
              </a:rPr>
              <a:t> </a:t>
            </a:r>
            <a:endParaRPr lang="en-US"/>
          </a:p>
        </p:txBody>
      </p:sp>
      <p:sp>
        <p:nvSpPr>
          <p:cNvPr id="1329004941" name="Text 2"/>
          <p:cNvSpPr txBox="1"/>
          <p:nvPr/>
        </p:nvSpPr>
        <p:spPr bwMode="auto">
          <a:xfrm>
            <a:off x="914400" y="10972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 b="1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Operating System</a:t>
            </a: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: Windows / Linux / macOS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2038478550" name="Text 3"/>
          <p:cNvSpPr txBox="1"/>
          <p:nvPr/>
        </p:nvSpPr>
        <p:spPr bwMode="auto">
          <a:xfrm>
            <a:off x="914400" y="15544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 b="1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Frontend:</a:t>
            </a: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 React.js with Vite build tool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1356975387" name="Text 4"/>
          <p:cNvSpPr txBox="1"/>
          <p:nvPr/>
        </p:nvSpPr>
        <p:spPr bwMode="auto">
          <a:xfrm>
            <a:off x="914400" y="20116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 b="1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Backend</a:t>
            </a: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: Node.js and Express.js framework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222622891" name="Text 5"/>
          <p:cNvSpPr txBox="1"/>
          <p:nvPr/>
        </p:nvSpPr>
        <p:spPr bwMode="auto">
          <a:xfrm>
            <a:off x="91440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 b="1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Database</a:t>
            </a: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: MongoDB Atlas (NoSQL)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1845591458" name="Text 6"/>
          <p:cNvSpPr txBox="1"/>
          <p:nvPr/>
        </p:nvSpPr>
        <p:spPr bwMode="auto">
          <a:xfrm>
            <a:off x="914400" y="2926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 b="1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ODM</a:t>
            </a: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: Mongoose for data modeling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681446982" name="Text 7"/>
          <p:cNvSpPr txBox="1"/>
          <p:nvPr/>
        </p:nvSpPr>
        <p:spPr bwMode="auto">
          <a:xfrm>
            <a:off x="914400" y="33832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 b="1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Authentication</a:t>
            </a: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: JWT tokens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286433999" name="Text 8"/>
          <p:cNvSpPr txBox="1"/>
          <p:nvPr/>
        </p:nvSpPr>
        <p:spPr bwMode="auto">
          <a:xfrm>
            <a:off x="914400" y="38404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 b="1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Security</a:t>
            </a: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: bcryptjs for password hashing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196916155" name="Text 9"/>
          <p:cNvSpPr txBox="1"/>
          <p:nvPr/>
        </p:nvSpPr>
        <p:spPr bwMode="auto">
          <a:xfrm>
            <a:off x="914400" y="42976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 b="1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Version Control</a:t>
            </a: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: Git &amp; GitHub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1666064714" name="Text 10"/>
          <p:cNvSpPr txBox="1"/>
          <p:nvPr/>
        </p:nvSpPr>
        <p:spPr bwMode="auto">
          <a:xfrm>
            <a:off x="914400" y="4754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 b="1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Package Manager</a:t>
            </a: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: npm</a:t>
            </a:r>
            <a:endParaRPr sz="1400">
              <a:latin typeface="Ubuntu Sans"/>
              <a:cs typeface="Ubunt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240180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 anchor="ctr"/>
          <a:p>
            <a:pPr algn="ctr">
              <a:defRPr/>
            </a:pPr>
            <a:endParaRPr>
              <a:latin typeface="Ubuntu Sans"/>
              <a:cs typeface="Ubuntu Sans"/>
            </a:endParaRPr>
          </a:p>
        </p:txBody>
      </p:sp>
      <p:sp>
        <p:nvSpPr>
          <p:cNvPr id="1880800772" name="Text 1"/>
          <p:cNvSpPr txBox="1"/>
          <p:nvPr/>
        </p:nvSpPr>
        <p:spPr bwMode="auto"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b="1">
                <a:solidFill>
                  <a:srgbClr val="1F2937"/>
                </a:solidFill>
              </a:rPr>
              <a:t>HARDWARE </a:t>
            </a:r>
            <a:r>
              <a:rPr lang="en-US" b="1">
                <a:solidFill>
                  <a:srgbClr val="509162"/>
                </a:solidFill>
              </a:rPr>
              <a:t>REQUIREMENTS</a:t>
            </a:r>
            <a:endParaRPr lang="en-US"/>
          </a:p>
        </p:txBody>
      </p:sp>
      <p:sp>
        <p:nvSpPr>
          <p:cNvPr id="756202020" name="Text 2"/>
          <p:cNvSpPr txBox="1"/>
          <p:nvPr/>
        </p:nvSpPr>
        <p:spPr bwMode="auto"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b="1">
                <a:solidFill>
                  <a:srgbClr val="1F2937"/>
                </a:solidFill>
              </a:rPr>
              <a:t>Minimum </a:t>
            </a:r>
            <a:r>
              <a:rPr lang="en-US" b="1">
                <a:solidFill>
                  <a:srgbClr val="509162"/>
                </a:solidFill>
              </a:rPr>
              <a:t>Development </a:t>
            </a:r>
            <a:r>
              <a:rPr lang="en-US" b="1">
                <a:solidFill>
                  <a:srgbClr val="1F2937"/>
                </a:solidFill>
              </a:rPr>
              <a:t>System</a:t>
            </a:r>
            <a:endParaRPr lang="en-US"/>
          </a:p>
        </p:txBody>
      </p:sp>
      <p:sp>
        <p:nvSpPr>
          <p:cNvPr id="1897269262" name="Text 3"/>
          <p:cNvSpPr txBox="1"/>
          <p:nvPr/>
        </p:nvSpPr>
        <p:spPr bwMode="auto">
          <a:xfrm>
            <a:off x="914400" y="15544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Computer/Laptop with dual-core or equivalent processor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520734982" name="Text 4"/>
          <p:cNvSpPr txBox="1"/>
          <p:nvPr/>
        </p:nvSpPr>
        <p:spPr bwMode="auto">
          <a:xfrm>
            <a:off x="914400" y="20116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Minimum 4 GB RAM, at least 10 GB available storage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1351402164" name="Text 5"/>
          <p:cNvSpPr txBox="1"/>
          <p:nvPr/>
        </p:nvSpPr>
        <p:spPr bwMode="auto">
          <a:xfrm>
            <a:off x="91440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Internet connection and modern web browser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658003808" name="Text 6"/>
          <p:cNvSpPr txBox="1"/>
          <p:nvPr/>
        </p:nvSpPr>
        <p:spPr bwMode="auto"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b="1">
                <a:solidFill>
                  <a:srgbClr val="1F2937"/>
                </a:solidFill>
              </a:rPr>
              <a:t>Recommended </a:t>
            </a:r>
            <a:r>
              <a:rPr lang="en-US" b="1">
                <a:solidFill>
                  <a:srgbClr val="509162"/>
                </a:solidFill>
              </a:rPr>
              <a:t>Specifications</a:t>
            </a:r>
            <a:endParaRPr lang="en-US"/>
          </a:p>
        </p:txBody>
      </p:sp>
      <p:sp>
        <p:nvSpPr>
          <p:cNvPr id="742973648" name="Text 7"/>
          <p:cNvSpPr txBox="1"/>
          <p:nvPr/>
        </p:nvSpPr>
        <p:spPr bwMode="auto">
          <a:xfrm>
            <a:off x="914400" y="33832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8 GB RAM or higher for smooth development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207449776" name="Text 8"/>
          <p:cNvSpPr txBox="1"/>
          <p:nvPr/>
        </p:nvSpPr>
        <p:spPr bwMode="auto">
          <a:xfrm>
            <a:off x="914400" y="38404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Modern multi-core processor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502637585" name="Text 9"/>
          <p:cNvSpPr txBox="1"/>
          <p:nvPr/>
        </p:nvSpPr>
        <p:spPr bwMode="auto">
          <a:xfrm>
            <a:off x="914400" y="42976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Stable internet connection</a:t>
            </a:r>
            <a:endParaRPr sz="1400">
              <a:latin typeface="Ubuntu Sans"/>
              <a:cs typeface="Ubuntu Sans"/>
            </a:endParaRPr>
          </a:p>
        </p:txBody>
      </p:sp>
      <p:sp>
        <p:nvSpPr>
          <p:cNvPr id="349645445" name="Text 10"/>
          <p:cNvSpPr txBox="1"/>
          <p:nvPr/>
        </p:nvSpPr>
        <p:spPr bwMode="auto">
          <a:xfrm>
            <a:off x="914400" y="4754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400">
                <a:solidFill>
                  <a:srgbClr val="111827"/>
                </a:solidFill>
                <a:latin typeface="Ubuntu Sans"/>
                <a:ea typeface="Ubuntu Sans"/>
                <a:cs typeface="Ubuntu Sans"/>
              </a:rPr>
              <a:t>No dedicated motorcycle hardware required for core system</a:t>
            </a:r>
            <a:endParaRPr sz="1400">
              <a:latin typeface="Ubuntu Sans"/>
              <a:cs typeface="Ubunt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350660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90082660" name="Text 1"/>
          <p:cNvSpPr txBox="1"/>
          <p:nvPr/>
        </p:nvSpPr>
        <p:spPr bwMode="auto"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b="1">
                <a:solidFill>
                  <a:srgbClr val="1F2937"/>
                </a:solidFill>
              </a:rPr>
              <a:t>FUNCTIONAL </a:t>
            </a:r>
            <a:r>
              <a:rPr lang="en-US" b="1">
                <a:solidFill>
                  <a:srgbClr val="509162"/>
                </a:solidFill>
              </a:rPr>
              <a:t>REQUIREMENTS </a:t>
            </a:r>
            <a:endParaRPr lang="en-US"/>
          </a:p>
        </p:txBody>
      </p:sp>
      <p:sp>
        <p:nvSpPr>
          <p:cNvPr id="332049682" name=""/>
          <p:cNvSpPr/>
          <p:nvPr/>
        </p:nvSpPr>
        <p:spPr bwMode="auto">
          <a:xfrm flipH="0" flipV="0">
            <a:off x="457200" y="1009649"/>
            <a:ext cx="8231399" cy="37722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lnSpc>
                <a:spcPct val="114999"/>
              </a:lnSpc>
              <a:defRPr/>
            </a:pP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User Authentication: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Provide secure user registration and login using JWT authentication.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Motorcycle Management: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Add, update, delete and view multiple motorcycles under a single user account.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Fuel Management: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Record fuel purchases with date, quantity, price, odometer and fuel station details.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Mileage Calculation: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Calculate mileage, distance travelled and fuel cost per kilometre from fuel records.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Service Management: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Record motorcycle service and maintenance activities with date, odometer, parts cost and labour cost.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Expense Management: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Record and categorize motorcycle-related expenses such as accessories, repairs, insurance and parts.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Dashboard &amp; Analytics: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Display motorcycle information, fuel expenditure, mileage, maintenance costs and ownership insights.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14999"/>
              </a:lnSpc>
              <a:defRPr/>
            </a:pP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Search &amp; Filter: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Search and filter fuel, service and expense records based on motorcycle, date and category.</a:t>
            </a:r>
            <a:endParaRPr sz="1400">
              <a:latin typeface="Ubuntu Sans"/>
              <a:cs typeface="Ubunt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835255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69675045" name="Text 1"/>
          <p:cNvSpPr txBox="1"/>
          <p:nvPr/>
        </p:nvSpPr>
        <p:spPr bwMode="auto"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b="1">
                <a:solidFill>
                  <a:srgbClr val="1F2937"/>
                </a:solidFill>
              </a:rPr>
              <a:t>NON FUNCTIONAL </a:t>
            </a:r>
            <a:r>
              <a:rPr lang="en-US" b="1">
                <a:solidFill>
                  <a:srgbClr val="509162"/>
                </a:solidFill>
              </a:rPr>
              <a:t>REQUIREMENTS </a:t>
            </a:r>
            <a:endParaRPr lang="en-US"/>
          </a:p>
        </p:txBody>
      </p:sp>
      <p:sp>
        <p:nvSpPr>
          <p:cNvPr id="757401328" name=""/>
          <p:cNvSpPr/>
          <p:nvPr/>
        </p:nvSpPr>
        <p:spPr bwMode="auto">
          <a:xfrm flipH="0" flipV="0">
            <a:off x="457200" y="1009649"/>
            <a:ext cx="8233199" cy="329220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lnSpc>
                <a:spcPct val="150000"/>
              </a:lnSpc>
              <a:defRPr/>
            </a:pP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Performance: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The system should provide quick response times and efficient data retrieval.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50000"/>
              </a:lnSpc>
              <a:defRPr/>
            </a:pP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Security: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User passwords shall be securely hashed, and protected resources shall use JWT authentication.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50000"/>
              </a:lnSpc>
              <a:defRPr/>
            </a:pP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Scalability: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The system should support multiple motorcycles and allow future expansion of modules.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50000"/>
              </a:lnSpc>
              <a:defRPr/>
            </a:pP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Usability: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The application should provide simple navigation and easy-to-use forms.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50000"/>
              </a:lnSpc>
              <a:defRPr/>
            </a:pP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Reliability: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The system should provide consistent access to stored motorcycle and ownership records.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50000"/>
              </a:lnSpc>
              <a:defRPr/>
            </a:pP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Responsiveness: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The user interface should adapt to different screen sizes, including desktop and mobile devices.</a:t>
            </a:r>
            <a:endParaRPr sz="1400">
              <a:latin typeface="Ubuntu Sans"/>
              <a:cs typeface="Ubuntu Sans"/>
            </a:endParaRPr>
          </a:p>
          <a:p>
            <a:pPr>
              <a:lnSpc>
                <a:spcPct val="150000"/>
              </a:lnSpc>
              <a:defRPr/>
            </a:pP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Maintainability: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The system should use a modular architecture to simplify future development and maintenance.</a:t>
            </a:r>
            <a:endParaRPr sz="1400">
              <a:latin typeface="Ubuntu Sans"/>
              <a:cs typeface="Ubunt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820002" name=""/>
          <p:cNvSpPr txBox="1"/>
          <p:nvPr/>
        </p:nvSpPr>
        <p:spPr bwMode="auto">
          <a:xfrm rot="0" flipH="0" flipV="0">
            <a:off x="2465099" y="2020209"/>
            <a:ext cx="3544380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Ubuntu Sans"/>
                <a:ea typeface="Ubuntu Sans"/>
                <a:cs typeface="Ubuntu Sans"/>
              </a:rPr>
              <a:t>DATA </a:t>
            </a:r>
            <a:r>
              <a:rPr sz="2600" b="1">
                <a:solidFill>
                  <a:srgbClr val="509162"/>
                </a:solidFill>
                <a:latin typeface="Ubuntu Sans"/>
                <a:ea typeface="Ubuntu Sans"/>
                <a:cs typeface="Ubuntu Sans"/>
              </a:rPr>
              <a:t>FLOW </a:t>
            </a:r>
            <a:r>
              <a:rPr sz="2600" b="1">
                <a:latin typeface="Ubuntu Sans"/>
                <a:ea typeface="Ubuntu Sans"/>
                <a:cs typeface="Ubuntu Sans"/>
              </a:rPr>
              <a:t>DIAGRAM</a:t>
            </a:r>
            <a:endParaRPr sz="2600" b="1">
              <a:latin typeface="Ubuntu Sans"/>
              <a:cs typeface="Ubunt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368597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1154506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0"/>
            <a:ext cx="9144000" cy="51561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269173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501878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900523" name=""/>
          <p:cNvSpPr txBox="1"/>
          <p:nvPr/>
        </p:nvSpPr>
        <p:spPr bwMode="auto">
          <a:xfrm rot="0" flipH="0" flipV="0">
            <a:off x="547399" y="469899"/>
            <a:ext cx="358967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latin typeface="Ubuntu Sans"/>
                <a:ea typeface="Ubuntu Sans"/>
                <a:cs typeface="Ubuntu Sans"/>
              </a:rPr>
              <a:t>DATABASE </a:t>
            </a:r>
            <a:r>
              <a:rPr b="1">
                <a:solidFill>
                  <a:srgbClr val="509162"/>
                </a:solidFill>
                <a:latin typeface="Ubuntu Sans"/>
                <a:ea typeface="Ubuntu Sans"/>
                <a:cs typeface="Ubuntu Sans"/>
              </a:rPr>
              <a:t>REQUIREMENT</a:t>
            </a:r>
            <a:endParaRPr>
              <a:latin typeface="Ubuntu Sans"/>
              <a:cs typeface="Ubuntu Sans"/>
            </a:endParaRPr>
          </a:p>
        </p:txBody>
      </p:sp>
      <p:sp>
        <p:nvSpPr>
          <p:cNvPr id="775788508" name=""/>
          <p:cNvSpPr/>
          <p:nvPr/>
        </p:nvSpPr>
        <p:spPr bwMode="auto">
          <a:xfrm flipH="0" flipV="0">
            <a:off x="593368" y="1037589"/>
            <a:ext cx="8186150" cy="393228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239821" indent="-239821">
              <a:lnSpc>
                <a:spcPct val="200000"/>
              </a:lnSpc>
              <a:buFont typeface="Arial"/>
              <a:buChar char="•"/>
              <a:defRPr/>
            </a:pP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Database Type: MongoDB Atlas (NoSQL Document Database)</a:t>
            </a:r>
            <a:endParaRPr sz="1400">
              <a:latin typeface="Ubuntu Sans"/>
              <a:cs typeface="Ubuntu Sans"/>
            </a:endParaRPr>
          </a:p>
          <a:p>
            <a:pPr marL="239821" indent="-239821">
              <a:lnSpc>
                <a:spcPct val="200000"/>
              </a:lnSpc>
              <a:buFont typeface="Arial"/>
              <a:buChar char="•"/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The database shall store application-related data such as </a:t>
            </a: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users, motorcycles, fuel logs, service records, and expenses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. </a:t>
            </a:r>
            <a:endParaRPr sz="1400">
              <a:latin typeface="Ubuntu Sans"/>
              <a:cs typeface="Ubuntu Sans"/>
            </a:endParaRPr>
          </a:p>
          <a:p>
            <a:pPr marL="239821" indent="-239821">
              <a:lnSpc>
                <a:spcPct val="200000"/>
              </a:lnSpc>
              <a:buFont typeface="Arial"/>
              <a:buChar char="•"/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The database shall provide </a:t>
            </a: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secure and organized storage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for motorcycle ownership data. </a:t>
            </a:r>
            <a:endParaRPr sz="1400">
              <a:latin typeface="Ubuntu Sans"/>
              <a:cs typeface="Ubuntu Sans"/>
            </a:endParaRPr>
          </a:p>
          <a:p>
            <a:pPr marL="239821" indent="-239821">
              <a:lnSpc>
                <a:spcPct val="200000"/>
              </a:lnSpc>
              <a:buFont typeface="Arial"/>
              <a:buChar char="•"/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The system shall support </a:t>
            </a: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adding, updating, deleting, and retrieving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application data. </a:t>
            </a:r>
            <a:endParaRPr sz="1400">
              <a:latin typeface="Ubuntu Sans"/>
              <a:cs typeface="Ubuntu Sans"/>
            </a:endParaRPr>
          </a:p>
          <a:p>
            <a:pPr marL="239821" indent="-239821">
              <a:lnSpc>
                <a:spcPct val="200000"/>
              </a:lnSpc>
              <a:buFont typeface="Arial"/>
              <a:buChar char="•"/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The database shall maintain relationships between </a:t>
            </a: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users, motorcycles, fuel, service, and expense records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. </a:t>
            </a:r>
            <a:endParaRPr sz="1400">
              <a:latin typeface="Ubuntu Sans"/>
              <a:cs typeface="Ubuntu Sans"/>
            </a:endParaRPr>
          </a:p>
          <a:p>
            <a:pPr marL="239821" indent="-239821">
              <a:lnSpc>
                <a:spcPct val="200000"/>
              </a:lnSpc>
              <a:buFont typeface="Arial"/>
              <a:buChar char="•"/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The database shall support </a:t>
            </a:r>
            <a:r>
              <a:rPr sz="1400" b="1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efficient data access for mileage calculations, analytics, dashboard and reports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.</a:t>
            </a:r>
            <a:endParaRPr sz="1400">
              <a:latin typeface="Ubuntu Sans"/>
              <a:cs typeface="Ubunt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754513" name=""/>
          <p:cNvSpPr txBox="1"/>
          <p:nvPr/>
        </p:nvSpPr>
        <p:spPr bwMode="auto">
          <a:xfrm rot="0" flipH="0" flipV="0">
            <a:off x="3341399" y="1956889"/>
            <a:ext cx="3125279" cy="8537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5000">
                <a:solidFill>
                  <a:srgbClr val="509162"/>
                </a:solidFill>
              </a:rPr>
              <a:t>RESULT</a:t>
            </a:r>
            <a:endParaRPr sz="5000">
              <a:solidFill>
                <a:srgbClr val="50916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146177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8133252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34699" y="304799"/>
            <a:ext cx="8140699" cy="44195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399956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47399" y="324321"/>
            <a:ext cx="8077199" cy="44948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5289008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96599" y="177010"/>
            <a:ext cx="8153399" cy="46997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148401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96599" y="177010"/>
            <a:ext cx="8178799" cy="47894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206254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1399" y="0"/>
            <a:ext cx="9194799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690969" name=""/>
          <p:cNvSpPr txBox="1"/>
          <p:nvPr/>
        </p:nvSpPr>
        <p:spPr bwMode="auto">
          <a:xfrm rot="0" flipH="0" flipV="0">
            <a:off x="534699" y="380999"/>
            <a:ext cx="320651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 b="1">
                <a:solidFill>
                  <a:srgbClr val="509162"/>
                </a:solidFill>
                <a:latin typeface="Ubuntu Sans"/>
                <a:ea typeface="Ubuntu Sans"/>
                <a:cs typeface="Ubuntu Sans"/>
              </a:rPr>
              <a:t>CONCLUSION</a:t>
            </a:r>
            <a:endParaRPr sz="1800" b="1">
              <a:solidFill>
                <a:srgbClr val="509162"/>
              </a:solidFill>
              <a:latin typeface="Ubuntu Sans"/>
              <a:cs typeface="Ubuntu Sans"/>
            </a:endParaRPr>
          </a:p>
        </p:txBody>
      </p:sp>
      <p:sp>
        <p:nvSpPr>
          <p:cNvPr id="933759999" name=""/>
          <p:cNvSpPr txBox="1"/>
          <p:nvPr/>
        </p:nvSpPr>
        <p:spPr bwMode="auto">
          <a:xfrm rot="0" flipH="0" flipV="0">
            <a:off x="534699" y="1168398"/>
            <a:ext cx="7523798" cy="156397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14999"/>
              </a:lnSpc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M2T (</a:t>
            </a:r>
            <a:r>
              <a:rPr sz="1400" b="0" i="0" u="none">
                <a:solidFill>
                  <a:srgbClr val="509162"/>
                </a:solidFill>
                <a:latin typeface="Ubuntu Sans"/>
                <a:ea typeface="Ubuntu Sans"/>
                <a:cs typeface="Ubuntu Sans"/>
              </a:rPr>
              <a:t>Moto2Travel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) provides a centralized platform for motorcycle owners to manage multiple motorcycles, fuel records, maintenance activities, expenses, and ownership data in one place. 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The system organizes these records and converts them into useful information such as mileage, fuel expenditure, maintenance costs, and ownership insights through a unified dashboard.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M2T provides a structured foundation for future enhancements such as service reminders, advanced analytics, predictive maintenance, and rider-focused features.</a:t>
            </a:r>
            <a:endParaRPr sz="1400" b="0" i="0" u="none">
              <a:solidFill>
                <a:srgbClr val="000000"/>
              </a:solidFill>
              <a:latin typeface="Ubuntu Sans"/>
              <a:ea typeface="Ubuntu Sans"/>
              <a:cs typeface="Ubunt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13807" name=""/>
          <p:cNvSpPr txBox="1"/>
          <p:nvPr/>
        </p:nvSpPr>
        <p:spPr bwMode="auto">
          <a:xfrm rot="0" flipH="0" flipV="0">
            <a:off x="534699" y="380999"/>
            <a:ext cx="3211920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 b="1">
                <a:solidFill>
                  <a:srgbClr val="509162"/>
                </a:solidFill>
                <a:latin typeface="Ubuntu Sans"/>
                <a:ea typeface="Ubuntu Sans"/>
                <a:cs typeface="Ubuntu Sans"/>
              </a:rPr>
              <a:t>REFERENCES</a:t>
            </a:r>
            <a:endParaRPr sz="1800" b="1">
              <a:solidFill>
                <a:srgbClr val="509162"/>
              </a:solidFill>
              <a:latin typeface="Ubuntu Sans"/>
              <a:cs typeface="Ubuntu Sans"/>
            </a:endParaRPr>
          </a:p>
        </p:txBody>
      </p:sp>
      <p:sp>
        <p:nvSpPr>
          <p:cNvPr id="53038522" name=""/>
          <p:cNvSpPr txBox="1"/>
          <p:nvPr/>
        </p:nvSpPr>
        <p:spPr bwMode="auto">
          <a:xfrm rot="0" flipH="0" flipV="0">
            <a:off x="534699" y="901699"/>
            <a:ext cx="7529918" cy="45723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indent="-239821">
              <a:lnSpc>
                <a:spcPct val="150000"/>
              </a:lnSpc>
              <a:buAutoNum type="arabicPeriod"/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Kamolsin, C., Rungkul, W., Limpalasuk, C., et al.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(2023). </a:t>
            </a:r>
            <a:r>
              <a:rPr sz="1400" b="0" i="1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Vehicle Management System: Fuel, Mileage, </a:t>
            </a:r>
            <a:r>
              <a:rPr sz="1400" b="0" i="1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Cost, and Maintenance Tracker.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2023 International Conference on Cyber Management and Engineering (CyMaEn). DOI: 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10.1109/CyMaEn57228.2023.10051089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. </a:t>
            </a:r>
            <a:endParaRPr sz="1400" b="0">
              <a:latin typeface="Ubuntu Sans"/>
              <a:ea typeface="Ubuntu Sans"/>
              <a:cs typeface="Ubuntu Sans"/>
            </a:endParaRPr>
          </a:p>
          <a:p>
            <a:pPr marL="239821" indent="-239821">
              <a:lnSpc>
                <a:spcPct val="150000"/>
              </a:lnSpc>
              <a:buAutoNum type="arabicPeriod"/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Jain, M., Vasdev, D., Pal, K., &amp; Sharma, V.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(2022). </a:t>
            </a:r>
            <a:r>
              <a:rPr sz="1400" b="0" i="1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Systematic Literature Review on Predictive Maintenance of Vehicles and Diagnosis of Vehicle's Health Using Machine Learning Techniques.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Computational Intelligence, 38(6), 1990–2008.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DOI: 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10.1111/coin.12553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. </a:t>
            </a:r>
            <a:endParaRPr sz="1400" b="0">
              <a:latin typeface="Ubuntu Sans"/>
              <a:cs typeface="Ubuntu Sans"/>
            </a:endParaRPr>
          </a:p>
          <a:p>
            <a:pPr marL="239821" indent="-239821">
              <a:lnSpc>
                <a:spcPct val="150000"/>
              </a:lnSpc>
              <a:buAutoNum type="arabicPeriod"/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Nguyen, Y.-L. T., Nguyen Duc, K., Le, A.-T., Nghiem, T.-D., &amp; Than, H.-Y. T.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(2023). </a:t>
            </a:r>
            <a:r>
              <a:rPr sz="1400" b="0" i="1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Impact of Real-World Driving Characteristics on the Actual Fuel Consumption of Motorcycles and Implications for Traffic-Related Air Pollution Control in Vietnam.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Fuel, 345, 128256.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DOI: 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10.1016/j.fuel.2023.128256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. </a:t>
            </a:r>
            <a:endParaRPr sz="1400" b="0">
              <a:latin typeface="Ubuntu Sans"/>
              <a:cs typeface="Ubuntu Sans"/>
            </a:endParaRPr>
          </a:p>
          <a:p>
            <a:pPr marL="239821" indent="-239821">
              <a:lnSpc>
                <a:spcPct val="150000"/>
              </a:lnSpc>
              <a:buAutoNum type="arabicPeriod"/>
              <a:defRPr/>
            </a:pP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Kristiani, E., Yu, T.-H., &amp; Yang, C.-T.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(2024). </a:t>
            </a:r>
            <a:r>
              <a:rPr sz="1400" b="0" i="1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On Construction of Real-Time Monitoring System for Sport Cruiser Motorcycles Using NB-IoT and Multi-Sensors.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Sensors, 24(23), 7484.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 DOI: 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10.3390/s24237484</a:t>
            </a:r>
            <a:r>
              <a:rPr sz="1400" b="0" i="0" u="none">
                <a:solidFill>
                  <a:srgbClr val="000000"/>
                </a:solidFill>
                <a:latin typeface="Ubuntu Sans"/>
                <a:ea typeface="Ubuntu Sans"/>
                <a:cs typeface="Ubuntu Sans"/>
              </a:rPr>
              <a:t>. </a:t>
            </a:r>
            <a:endParaRPr sz="1400" b="0">
              <a:latin typeface="Ubuntu Sans"/>
              <a:cs typeface="Ubunt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742478" name=""/>
          <p:cNvSpPr txBox="1"/>
          <p:nvPr/>
        </p:nvSpPr>
        <p:spPr bwMode="auto">
          <a:xfrm rot="0" flipH="0" flipV="0">
            <a:off x="2858799" y="1823539"/>
            <a:ext cx="358247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>
                <a:latin typeface="Ubuntu Sans"/>
                <a:ea typeface="Ubuntu Sans"/>
                <a:cs typeface="Ubuntu Sans"/>
              </a:rPr>
              <a:t>THANK </a:t>
            </a:r>
            <a:r>
              <a:rPr sz="4800">
                <a:solidFill>
                  <a:srgbClr val="509162"/>
                </a:solidFill>
                <a:latin typeface="Ubuntu Sans"/>
                <a:ea typeface="Ubuntu Sans"/>
                <a:cs typeface="Ubuntu Sans"/>
              </a:rPr>
              <a:t>YOU</a:t>
            </a:r>
            <a:endParaRPr sz="4800">
              <a:latin typeface="Ubuntu Sans"/>
              <a:cs typeface="Ubunt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31</Slides>
  <Notes>31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4</cp:revision>
  <dcterms:created xsi:type="dcterms:W3CDTF">2026-09-17T08:34:12Z</dcterms:created>
  <dcterms:modified xsi:type="dcterms:W3CDTF">2026-09-18T08:41:16Z</dcterms:modified>
</cp:coreProperties>
</file>